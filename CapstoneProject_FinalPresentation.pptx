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7" r:id="rId2"/>
    <p:sldId id="258" r:id="rId3"/>
    <p:sldId id="270" r:id="rId4"/>
    <p:sldId id="283" r:id="rId5"/>
    <p:sldId id="272" r:id="rId6"/>
    <p:sldId id="274" r:id="rId7"/>
    <p:sldId id="271" r:id="rId8"/>
    <p:sldId id="275" r:id="rId9"/>
    <p:sldId id="284" r:id="rId10"/>
    <p:sldId id="276" r:id="rId11"/>
    <p:sldId id="282" r:id="rId12"/>
    <p:sldId id="288" r:id="rId13"/>
    <p:sldId id="289" r:id="rId14"/>
    <p:sldId id="292" r:id="rId15"/>
    <p:sldId id="293" r:id="rId16"/>
    <p:sldId id="295" r:id="rId17"/>
    <p:sldId id="296" r:id="rId18"/>
    <p:sldId id="297" r:id="rId19"/>
    <p:sldId id="298" r:id="rId20"/>
    <p:sldId id="278" r:id="rId21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A6A2"/>
    <a:srgbClr val="80B4B5"/>
    <a:srgbClr val="9AB6DA"/>
    <a:srgbClr val="7267A2"/>
    <a:srgbClr val="E1B7B1"/>
    <a:srgbClr val="A7C374"/>
    <a:srgbClr val="8EAE54"/>
    <a:srgbClr val="575295"/>
    <a:srgbClr val="6985BF"/>
    <a:srgbClr val="C8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CB9178-BD8E-40E0-955E-8ED85C435A33}" v="6" dt="2025-06-18T07:27:34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C2CB9178-BD8E-40E0-955E-8ED85C435A33}"/>
    <pc:docChg chg="undo custSel addSld delSld modSld sldOrd">
      <pc:chgData name="Kevin Hartman" userId="801a5cf5c13d3b0a" providerId="LiveId" clId="{C2CB9178-BD8E-40E0-955E-8ED85C435A33}" dt="2025-06-18T07:27:55.086" v="152" actId="21"/>
      <pc:docMkLst>
        <pc:docMk/>
      </pc:docMkLst>
      <pc:sldChg chg="add del">
        <pc:chgData name="Kevin Hartman" userId="801a5cf5c13d3b0a" providerId="LiveId" clId="{C2CB9178-BD8E-40E0-955E-8ED85C435A33}" dt="2025-06-18T07:19:19.792" v="1" actId="2696"/>
        <pc:sldMkLst>
          <pc:docMk/>
          <pc:sldMk cId="2836899269" sldId="256"/>
        </pc:sldMkLst>
      </pc:sldChg>
      <pc:sldChg chg="modSp mod">
        <pc:chgData name="Kevin Hartman" userId="801a5cf5c13d3b0a" providerId="LiveId" clId="{C2CB9178-BD8E-40E0-955E-8ED85C435A33}" dt="2025-06-18T07:20:59.271" v="30" actId="20577"/>
        <pc:sldMkLst>
          <pc:docMk/>
          <pc:sldMk cId="3634241606" sldId="272"/>
        </pc:sldMkLst>
        <pc:spChg chg="mod">
          <ac:chgData name="Kevin Hartman" userId="801a5cf5c13d3b0a" providerId="LiveId" clId="{C2CB9178-BD8E-40E0-955E-8ED85C435A33}" dt="2025-06-18T07:20:26.432" v="4" actId="1076"/>
          <ac:spMkLst>
            <pc:docMk/>
            <pc:sldMk cId="3634241606" sldId="272"/>
            <ac:spMk id="3" creationId="{82AAF958-0411-EDB0-CDE7-B40ED132E551}"/>
          </ac:spMkLst>
        </pc:spChg>
        <pc:spChg chg="mod">
          <ac:chgData name="Kevin Hartman" userId="801a5cf5c13d3b0a" providerId="LiveId" clId="{C2CB9178-BD8E-40E0-955E-8ED85C435A33}" dt="2025-06-18T07:20:59.271" v="30" actId="20577"/>
          <ac:spMkLst>
            <pc:docMk/>
            <pc:sldMk cId="3634241606" sldId="272"/>
            <ac:spMk id="6" creationId="{9FC5198B-AF93-C12A-676A-1E5913E7B3DD}"/>
          </ac:spMkLst>
        </pc:spChg>
      </pc:sldChg>
      <pc:sldChg chg="addSp delSp modSp mod">
        <pc:chgData name="Kevin Hartman" userId="801a5cf5c13d3b0a" providerId="LiveId" clId="{C2CB9178-BD8E-40E0-955E-8ED85C435A33}" dt="2025-06-18T07:21:56.522" v="38" actId="1076"/>
        <pc:sldMkLst>
          <pc:docMk/>
          <pc:sldMk cId="3654312689" sldId="274"/>
        </pc:sldMkLst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4" creationId="{DA404B48-8CAD-85A6-C66C-AC9CABB20B34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17" creationId="{AAFAE932-9F02-CB1A-7AC9-467F43DC7525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0" creationId="{C2B4B9B0-2E14-2FFF-2E32-451FE71E38FC}"/>
          </ac:spMkLst>
        </pc:spChg>
        <pc:spChg chg="del mod topLvl">
          <ac:chgData name="Kevin Hartman" userId="801a5cf5c13d3b0a" providerId="LiveId" clId="{C2CB9178-BD8E-40E0-955E-8ED85C435A33}" dt="2025-06-18T07:21:46.484" v="36" actId="478"/>
          <ac:spMkLst>
            <pc:docMk/>
            <pc:sldMk cId="3654312689" sldId="274"/>
            <ac:spMk id="23" creationId="{51F3A725-4A64-7B50-BB02-2F67999019BE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5" creationId="{B54CC5F5-8B77-098F-B586-3F82B2FC8B1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7" creationId="{E30D7BDB-1F4C-E757-F5A6-7DE3156A113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8" creationId="{EBF09AF1-F58B-8B6F-15A2-6A1FEDF6EEEE}"/>
          </ac:spMkLst>
        </pc:spChg>
        <pc:grpChg chg="add del mod">
          <ac:chgData name="Kevin Hartman" userId="801a5cf5c13d3b0a" providerId="LiveId" clId="{C2CB9178-BD8E-40E0-955E-8ED85C435A33}" dt="2025-06-18T07:21:40.686" v="35" actId="165"/>
          <ac:grpSpMkLst>
            <pc:docMk/>
            <pc:sldMk cId="3654312689" sldId="274"/>
            <ac:grpSpMk id="5" creationId="{5C4CE85C-247B-0F30-642F-583FD991EBE7}"/>
          </ac:grpSpMkLst>
        </pc:grpChg>
      </pc:sldChg>
      <pc:sldChg chg="addSp delSp modSp add mod">
        <pc:chgData name="Kevin Hartman" userId="801a5cf5c13d3b0a" providerId="LiveId" clId="{C2CB9178-BD8E-40E0-955E-8ED85C435A33}" dt="2025-06-18T07:26:41.686" v="87" actId="20577"/>
        <pc:sldMkLst>
          <pc:docMk/>
          <pc:sldMk cId="3885141820" sldId="284"/>
        </pc:sldMkLst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3" creationId="{6683D772-DD41-4E7E-FBA4-82065A4F554F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4" creationId="{DF1AE7D3-CCB8-D20F-836B-BD02FEE21FE1}"/>
          </ac:spMkLst>
        </pc:spChg>
        <pc:spChg chg="add mod">
          <ac:chgData name="Kevin Hartman" userId="801a5cf5c13d3b0a" providerId="LiveId" clId="{C2CB9178-BD8E-40E0-955E-8ED85C435A33}" dt="2025-06-18T07:26:41.686" v="87" actId="20577"/>
          <ac:spMkLst>
            <pc:docMk/>
            <pc:sldMk cId="3885141820" sldId="284"/>
            <ac:spMk id="5" creationId="{60089D63-B4E9-0023-9C97-CEF66DDE7235}"/>
          </ac:spMkLst>
        </pc:spChg>
        <pc:spChg chg="mod">
          <ac:chgData name="Kevin Hartman" userId="801a5cf5c13d3b0a" providerId="LiveId" clId="{C2CB9178-BD8E-40E0-955E-8ED85C435A33}" dt="2025-06-18T07:25:58.473" v="46" actId="1076"/>
          <ac:spMkLst>
            <pc:docMk/>
            <pc:sldMk cId="3885141820" sldId="284"/>
            <ac:spMk id="12" creationId="{1B330A3D-4C03-C017-52A0-1443BD4A61C6}"/>
          </ac:spMkLst>
        </pc:spChg>
        <pc:spChg chg="mod">
          <ac:chgData name="Kevin Hartman" userId="801a5cf5c13d3b0a" providerId="LiveId" clId="{C2CB9178-BD8E-40E0-955E-8ED85C435A33}" dt="2025-06-18T07:26:05.388" v="47" actId="14100"/>
          <ac:spMkLst>
            <pc:docMk/>
            <pc:sldMk cId="3885141820" sldId="284"/>
            <ac:spMk id="15" creationId="{A8C9BCCB-E1C6-4CA4-C5FB-3BAB1ADECBBE}"/>
          </ac:spMkLst>
        </pc:spChg>
        <pc:spChg chg="del">
          <ac:chgData name="Kevin Hartman" userId="801a5cf5c13d3b0a" providerId="LiveId" clId="{C2CB9178-BD8E-40E0-955E-8ED85C435A33}" dt="2025-06-18T07:22:16.337" v="39" actId="478"/>
          <ac:spMkLst>
            <pc:docMk/>
            <pc:sldMk cId="3885141820" sldId="284"/>
            <ac:spMk id="16" creationId="{FE40292C-D102-2102-D8E3-8138D9E596A1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18" creationId="{B0851273-5ACD-DCF9-9894-26F6484AB840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0" creationId="{4CF9B046-EF63-A6E1-92AA-00BDBCF293B6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1" creationId="{ED59628C-E4A5-6851-2519-6AAB8C0A408E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2" creationId="{100FC48F-6B22-FBB3-30FA-14F4637FA22D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3" creationId="{C571217A-88E6-E892-9F27-845747478D3C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4" creationId="{BB6D3DE3-4A71-F3E4-6ACF-CA69EBD56469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25" creationId="{D922D248-5592-600D-55F7-2A87DDFF9764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7" creationId="{8854C700-1678-5184-028F-895DC2E26E7E}"/>
          </ac:spMkLst>
        </pc:spChg>
      </pc:sldChg>
      <pc:sldChg chg="addSp delSp modSp add mod ord setBg">
        <pc:chgData name="Kevin Hartman" userId="801a5cf5c13d3b0a" providerId="LiveId" clId="{C2CB9178-BD8E-40E0-955E-8ED85C435A33}" dt="2025-06-18T07:27:55.086" v="152" actId="21"/>
        <pc:sldMkLst>
          <pc:docMk/>
          <pc:sldMk cId="746430261" sldId="285"/>
        </pc:sldMkLst>
        <pc:spChg chg="del">
          <ac:chgData name="Kevin Hartman" userId="801a5cf5c13d3b0a" providerId="LiveId" clId="{C2CB9178-BD8E-40E0-955E-8ED85C435A33}" dt="2025-06-18T07:20:41.892" v="11" actId="478"/>
          <ac:spMkLst>
            <pc:docMk/>
            <pc:sldMk cId="746430261" sldId="285"/>
            <ac:spMk id="2" creationId="{5BB30D1B-8458-0384-DFD3-91279EA222C8}"/>
          </ac:spMkLst>
        </pc:spChg>
        <pc:spChg chg="del">
          <ac:chgData name="Kevin Hartman" userId="801a5cf5c13d3b0a" providerId="LiveId" clId="{C2CB9178-BD8E-40E0-955E-8ED85C435A33}" dt="2025-06-18T07:20:43.026" v="12" actId="478"/>
          <ac:spMkLst>
            <pc:docMk/>
            <pc:sldMk cId="746430261" sldId="285"/>
            <ac:spMk id="3" creationId="{2C2F175A-9761-6EC0-33D5-20C3339E147A}"/>
          </ac:spMkLst>
        </pc:spChg>
        <pc:spChg chg="add del mod">
          <ac:chgData name="Kevin Hartman" userId="801a5cf5c13d3b0a" providerId="LiveId" clId="{C2CB9178-BD8E-40E0-955E-8ED85C435A33}" dt="2025-06-18T07:27:55.086" v="152" actId="21"/>
          <ac:spMkLst>
            <pc:docMk/>
            <pc:sldMk cId="746430261" sldId="285"/>
            <ac:spMk id="4" creationId="{7CBB5A46-8316-C114-D895-B4E47E700FDC}"/>
          </ac:spMkLst>
        </pc:spChg>
        <pc:spChg chg="mod">
          <ac:chgData name="Kevin Hartman" userId="801a5cf5c13d3b0a" providerId="LiveId" clId="{C2CB9178-BD8E-40E0-955E-8ED85C435A33}" dt="2025-06-18T07:20:51.523" v="24" actId="20577"/>
          <ac:spMkLst>
            <pc:docMk/>
            <pc:sldMk cId="746430261" sldId="285"/>
            <ac:spMk id="6" creationId="{894BED0D-BB51-7329-1062-53BD342477F7}"/>
          </ac:spMkLst>
        </pc:spChg>
      </pc:sldChg>
      <pc:sldChg chg="add ord">
        <pc:chgData name="Kevin Hartman" userId="801a5cf5c13d3b0a" providerId="LiveId" clId="{C2CB9178-BD8E-40E0-955E-8ED85C435A33}" dt="2025-06-18T07:20:38.966" v="10"/>
        <pc:sldMkLst>
          <pc:docMk/>
          <pc:sldMk cId="1540677757" sldId="286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8776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88022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1535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3183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28784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x-none" smtClean="0"/>
              <a:t>22-6-2025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0.svg"/><Relationship Id="rId4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9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2.svg"/><Relationship Id="rId4" Type="http://schemas.openxmlformats.org/officeDocument/2006/relationships/image" Target="../media/image31.png"/><Relationship Id="rId9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37.svg"/><Relationship Id="rId7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42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2.svg"/><Relationship Id="rId5" Type="http://schemas.openxmlformats.org/officeDocument/2006/relationships/image" Target="../media/image46.svg"/><Relationship Id="rId10" Type="http://schemas.openxmlformats.org/officeDocument/2006/relationships/image" Target="../media/image1.png"/><Relationship Id="rId4" Type="http://schemas.openxmlformats.org/officeDocument/2006/relationships/image" Target="../media/image45.png"/><Relationship Id="rId9" Type="http://schemas.openxmlformats.org/officeDocument/2006/relationships/image" Target="../media/image5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BC65C69-117B-52D6-BC1E-1900F4CE9108}"/>
              </a:ext>
            </a:extLst>
          </p:cNvPr>
          <p:cNvGrpSpPr/>
          <p:nvPr/>
        </p:nvGrpSpPr>
        <p:grpSpPr>
          <a:xfrm>
            <a:off x="3712030" y="4166954"/>
            <a:ext cx="3833906" cy="794656"/>
            <a:chOff x="3352801" y="4109749"/>
            <a:chExt cx="3833906" cy="79465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5B1000-BF76-B41E-EA78-4C1E1FCE9790}"/>
                </a:ext>
              </a:extLst>
            </p:cNvPr>
            <p:cNvSpPr txBox="1"/>
            <p:nvPr/>
          </p:nvSpPr>
          <p:spPr>
            <a:xfrm>
              <a:off x="4452257" y="4322411"/>
              <a:ext cx="27344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Results and evaluation</a:t>
              </a:r>
              <a:endParaRPr lang="x-none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3BF297DA-7353-12FC-22E1-9733431A3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52801" y="4109749"/>
              <a:ext cx="794656" cy="79465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B2AF8-896F-2A80-C8B1-8076366E0CC6}"/>
              </a:ext>
            </a:extLst>
          </p:cNvPr>
          <p:cNvGrpSpPr/>
          <p:nvPr/>
        </p:nvGrpSpPr>
        <p:grpSpPr>
          <a:xfrm>
            <a:off x="3695702" y="5240941"/>
            <a:ext cx="3080655" cy="794656"/>
            <a:chOff x="3352801" y="5089071"/>
            <a:chExt cx="3080655" cy="7946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7F286B6-B78D-14E0-8B6F-89149AFBA6E2}"/>
                </a:ext>
              </a:extLst>
            </p:cNvPr>
            <p:cNvSpPr txBox="1"/>
            <p:nvPr/>
          </p:nvSpPr>
          <p:spPr>
            <a:xfrm>
              <a:off x="4452257" y="5301733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Discussion</a:t>
              </a:r>
              <a:endParaRPr lang="x-none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93DC22A1-E066-6592-9FCA-732E9F98E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52801" y="5089071"/>
              <a:ext cx="794656" cy="7946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A59121-0A0E-9D50-458B-307FCBDCBA77}"/>
              </a:ext>
            </a:extLst>
          </p:cNvPr>
          <p:cNvGrpSpPr/>
          <p:nvPr/>
        </p:nvGrpSpPr>
        <p:grpSpPr>
          <a:xfrm>
            <a:off x="3695702" y="2052315"/>
            <a:ext cx="3636588" cy="794655"/>
            <a:chOff x="3352802" y="2272130"/>
            <a:chExt cx="3636588" cy="79465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735E230-C232-7CD6-5A40-DFECC1C7E053}"/>
                </a:ext>
              </a:extLst>
            </p:cNvPr>
            <p:cNvSpPr txBox="1"/>
            <p:nvPr/>
          </p:nvSpPr>
          <p:spPr>
            <a:xfrm>
              <a:off x="4449968" y="2484792"/>
              <a:ext cx="25394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Project set up</a:t>
              </a:r>
              <a:endParaRPr lang="x-none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9275D7E7-3A07-32F7-AE1E-79DB7E4DC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52802" y="2272130"/>
              <a:ext cx="794655" cy="79465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F2B3F74-442A-16A2-C3E6-B11EEE2D9652}"/>
              </a:ext>
            </a:extLst>
          </p:cNvPr>
          <p:cNvGrpSpPr/>
          <p:nvPr/>
        </p:nvGrpSpPr>
        <p:grpSpPr>
          <a:xfrm>
            <a:off x="3712031" y="3124789"/>
            <a:ext cx="4227012" cy="794655"/>
            <a:chOff x="3352802" y="3222761"/>
            <a:chExt cx="4227012" cy="79465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4F3205-9763-CF0C-1D1A-34FEEE9AC886}"/>
                </a:ext>
              </a:extLst>
            </p:cNvPr>
            <p:cNvSpPr txBox="1"/>
            <p:nvPr/>
          </p:nvSpPr>
          <p:spPr>
            <a:xfrm>
              <a:off x="4452256" y="3403601"/>
              <a:ext cx="31275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Machine learning approach</a:t>
              </a:r>
              <a:endParaRPr lang="x-none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0EEA702-97FD-17BF-420A-60F0D92AA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52802" y="3222761"/>
              <a:ext cx="794655" cy="794655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16C64E-29B8-0A3D-9BE8-DA2D72721E1B}"/>
              </a:ext>
            </a:extLst>
          </p:cNvPr>
          <p:cNvGrpSpPr/>
          <p:nvPr/>
        </p:nvGrpSpPr>
        <p:grpSpPr>
          <a:xfrm>
            <a:off x="3695702" y="1004706"/>
            <a:ext cx="3850234" cy="800099"/>
            <a:chOff x="3407228" y="1223351"/>
            <a:chExt cx="3830674" cy="8000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FE0719-8C40-98EB-48A7-F837A7D651C3}"/>
                </a:ext>
              </a:extLst>
            </p:cNvPr>
            <p:cNvSpPr txBox="1"/>
            <p:nvPr/>
          </p:nvSpPr>
          <p:spPr>
            <a:xfrm>
              <a:off x="4452256" y="1438734"/>
              <a:ext cx="27856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Introduction and objective</a:t>
              </a: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6802C625-8F4D-E911-D540-8E70FCCE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7228" y="1223351"/>
              <a:ext cx="800099" cy="800099"/>
            </a:xfrm>
            <a:prstGeom prst="rect">
              <a:avLst/>
            </a:prstGeom>
          </p:spPr>
        </p:pic>
      </p:grpSp>
      <p:pic>
        <p:nvPicPr>
          <p:cNvPr id="18" name="Graphic 11">
            <a:extLst>
              <a:ext uri="{FF2B5EF4-FFF2-40B4-BE49-F238E27FC236}">
                <a16:creationId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3023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overview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 million cases of breast cancer worldwide in 2022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 (PGR)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292D9-A17F-67BB-C1EF-57C47F32A03A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37" name="Graphic 11">
            <a:extLst>
              <a:ext uri="{FF2B5EF4-FFF2-40B4-BE49-F238E27FC236}">
                <a16:creationId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Research questions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8" y="292813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4353446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5814047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important ethical 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4" name="Picture 13" descr="A diagram of a gene&#10;&#10;AI-generated content may be incorrect.">
            <a:extLst>
              <a:ext uri="{FF2B5EF4-FFF2-40B4-BE49-F238E27FC236}">
                <a16:creationId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337302"/>
            <a:ext cx="2112861" cy="14790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8" name="Picture 17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3963044"/>
            <a:ext cx="1872343" cy="1310640"/>
          </a:xfrm>
          <a:prstGeom prst="rect">
            <a:avLst/>
          </a:prstGeom>
        </p:spPr>
      </p:pic>
      <p:pic>
        <p:nvPicPr>
          <p:cNvPr id="20" name="Picture 1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297522"/>
            <a:ext cx="1776714" cy="12437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Workflow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4" y="1439926"/>
            <a:ext cx="2075526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567180" y="1439926"/>
            <a:ext cx="2577497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 of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674986" y="1439926"/>
            <a:ext cx="170058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7136203" y="1439926"/>
            <a:ext cx="2536371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036869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592540" y="5225144"/>
            <a:ext cx="2552137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7136203" y="5225144"/>
            <a:ext cx="2536371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661688" y="5225144"/>
            <a:ext cx="1713883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6" name="Graphic 2">
            <a:extLst>
              <a:ext uri="{FF2B5EF4-FFF2-40B4-BE49-F238E27FC236}">
                <a16:creationId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845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6" y="1679293"/>
            <a:ext cx="5159819" cy="667986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6" y="983497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7" y="4910655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93" y="2488113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93" y="3296931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93" y="4101836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  <p:pic>
        <p:nvPicPr>
          <p:cNvPr id="11" name="Graphic 2">
            <a:extLst>
              <a:ext uri="{FF2B5EF4-FFF2-40B4-BE49-F238E27FC236}">
                <a16:creationId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2512464" y="2669893"/>
            <a:ext cx="3583535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2512464" y="2049407"/>
            <a:ext cx="3583536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6368147" y="2049407"/>
            <a:ext cx="3656070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6368144" y="2669893"/>
            <a:ext cx="3656073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(cases), no duplicates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Graphic 2">
            <a:extLst>
              <a:ext uri="{FF2B5EF4-FFF2-40B4-BE49-F238E27FC236}">
                <a16:creationId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297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68460" y="4153485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C256A0E-0CBF-1E0D-B063-E6690A246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8F66A-EFC2-B79F-DF19-F2270C44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E3A88FEA-E64A-DB03-D08C-5020D91D0A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1002" y="1730542"/>
            <a:ext cx="3570511" cy="4517857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2C5B9D-0252-AAFC-26DB-4B889CE5EA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12774" y="1730542"/>
            <a:ext cx="3570511" cy="4517857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A31ED2-F6CA-856B-1096-F83261EB55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546" y="1730542"/>
            <a:ext cx="3570511" cy="4517857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FA4932E3-C3A2-3ECB-E870-9B3C46386376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6866F34B-98AD-59E8-C990-0B7464DD0A27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9A0FF-6ACE-F1B8-14C5-AB5CDF735F70}"/>
              </a:ext>
            </a:extLst>
          </p:cNvPr>
          <p:cNvSpPr txBox="1"/>
          <p:nvPr/>
        </p:nvSpPr>
        <p:spPr>
          <a:xfrm>
            <a:off x="4561112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‘Overexpressed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DB73A8-A8E3-14E5-69AA-4ED08D37FEE7}"/>
              </a:ext>
            </a:extLst>
          </p:cNvPr>
          <p:cNvSpPr txBox="1"/>
          <p:nvPr/>
        </p:nvSpPr>
        <p:spPr>
          <a:xfrm>
            <a:off x="4561112" y="4857901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‘Distinct biomarker for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27D3-88E8-A91D-0444-B7BF787283B9}"/>
              </a:ext>
            </a:extLst>
          </p:cNvPr>
          <p:cNvSpPr txBox="1"/>
          <p:nvPr/>
        </p:nvSpPr>
        <p:spPr>
          <a:xfrm>
            <a:off x="4561112" y="4389814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‘Critical role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0B5A0-6F1E-1CC0-7391-47674F3E60D1}"/>
              </a:ext>
            </a:extLst>
          </p:cNvPr>
          <p:cNvSpPr txBox="1"/>
          <p:nvPr/>
        </p:nvSpPr>
        <p:spPr>
          <a:xfrm>
            <a:off x="990601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Read 65 papers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4FAE69-F6C7-91DA-261B-3EAD694E9B15}"/>
              </a:ext>
            </a:extLst>
          </p:cNvPr>
          <p:cNvSpPr txBox="1"/>
          <p:nvPr/>
        </p:nvSpPr>
        <p:spPr>
          <a:xfrm>
            <a:off x="8355385" y="4857901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 proven false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895A70-4326-9C66-4E4A-2931728ACE42}"/>
              </a:ext>
            </a:extLst>
          </p:cNvPr>
          <p:cNvSpPr txBox="1"/>
          <p:nvPr/>
        </p:nvSpPr>
        <p:spPr>
          <a:xfrm>
            <a:off x="8355385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Explainable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1C8CEC-775B-A638-CF3E-217D23676157}"/>
              </a:ext>
            </a:extLst>
          </p:cNvPr>
          <p:cNvSpPr txBox="1"/>
          <p:nvPr/>
        </p:nvSpPr>
        <p:spPr>
          <a:xfrm>
            <a:off x="990601" y="4870352"/>
            <a:ext cx="30044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Assumption:</a:t>
            </a:r>
          </a:p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‘biomarker results in near perfect model’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89F945-A2BE-5A47-6153-F17C478D77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8930" y="192754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D36F3E-427E-8967-0770-8608C11511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67157" y="193737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Criteria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62DF7C-8367-EEB6-18C0-50E97CEA1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55385" y="1984217"/>
            <a:ext cx="2861744" cy="457201"/>
          </a:xfrm>
          <a:prstGeom prst="rect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7" name="Graphic 46">
            <a:extLst>
              <a:ext uri="{FF2B5EF4-FFF2-40B4-BE49-F238E27FC236}">
                <a16:creationId xmlns:a16="http://schemas.microsoft.com/office/drawing/2014/main" id="{63C68B22-79CC-5426-1B36-0AF450DC2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7177" y="2672084"/>
            <a:ext cx="885248" cy="885248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5CFF7006-5238-C8CB-022F-1353A8E70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404" y="2672083"/>
            <a:ext cx="885249" cy="885249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F9B15800-D803-ED03-6791-B2E4EBB82A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43632" y="2672083"/>
            <a:ext cx="885249" cy="885249"/>
          </a:xfrm>
          <a:prstGeom prst="rect">
            <a:avLst/>
          </a:prstGeom>
        </p:spPr>
      </p:pic>
      <p:pic>
        <p:nvPicPr>
          <p:cNvPr id="20" name="Graphic 3">
            <a:extLst>
              <a:ext uri="{FF2B5EF4-FFF2-40B4-BE49-F238E27FC236}">
                <a16:creationId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1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7"/>
            <a:ext cx="9361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3165810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3278341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3378019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801587" y="3216911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evaluation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 accuracy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941856" y="10885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070167" y="13170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910838" y="3558989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070167" y="3550528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155288" y="3552502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155288" y="131700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45" y="658903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989" y="4119723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9657" y="670905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656" y="4114959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300" y="649376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0086" y="4134012"/>
            <a:ext cx="2333951" cy="2495898"/>
          </a:xfrm>
          <a:prstGeom prst="rect">
            <a:avLst/>
          </a:prstGeom>
        </p:spPr>
      </p:pic>
      <p:pic>
        <p:nvPicPr>
          <p:cNvPr id="19" name="Graphic 9">
            <a:extLst>
              <a:ext uri="{FF2B5EF4-FFF2-40B4-BE49-F238E27FC236}">
                <a16:creationId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8C8281-0EFA-A59E-63BF-7FDECFE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725AA2-FCCE-F0EE-9655-B80A56D5C13E}"/>
              </a:ext>
            </a:extLst>
          </p:cNvPr>
          <p:cNvSpPr/>
          <p:nvPr/>
        </p:nvSpPr>
        <p:spPr>
          <a:xfrm>
            <a:off x="2623456" y="78687"/>
            <a:ext cx="8556173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Cross Validation Five Fold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6A52BF9-B15A-F427-E0BE-FC3974804402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BD94A8-570C-27DA-3ADE-FC048B223CFE}"/>
              </a:ext>
            </a:extLst>
          </p:cNvPr>
          <p:cNvSpPr/>
          <p:nvPr/>
        </p:nvSpPr>
        <p:spPr>
          <a:xfrm>
            <a:off x="2623457" y="3429001"/>
            <a:ext cx="8556171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74E7CA-1771-94F4-663D-17D76134BDBA}"/>
              </a:ext>
            </a:extLst>
          </p:cNvPr>
          <p:cNvSpPr/>
          <p:nvPr/>
        </p:nvSpPr>
        <p:spPr>
          <a:xfrm>
            <a:off x="2829193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371D62-E22B-FCD8-DE91-C59FBB2A88FC}"/>
              </a:ext>
            </a:extLst>
          </p:cNvPr>
          <p:cNvSpPr/>
          <p:nvPr/>
        </p:nvSpPr>
        <p:spPr>
          <a:xfrm>
            <a:off x="2829193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5" name="Graphic 1">
            <a:extLst>
              <a:ext uri="{FF2B5EF4-FFF2-40B4-BE49-F238E27FC236}">
                <a16:creationId xmlns:a16="http://schemas.microsoft.com/office/drawing/2014/main" id="{1E4444D7-C9B9-8E5D-0583-D26610B0B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1813" y="3652402"/>
            <a:ext cx="5731510" cy="2865755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FD23718E-A7E1-AAC4-CA27-55F141C556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1813" y="339843"/>
            <a:ext cx="5731510" cy="2865755"/>
          </a:xfrm>
          <a:prstGeom prst="rect">
            <a:avLst/>
          </a:prstGeom>
        </p:spPr>
      </p:pic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62529CA-2647-83B3-F5C3-055944DAF4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2095005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01025B97-2603-C621-774A-1DDFC94D7A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5454518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1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375580-D8D2-F2B5-B5A0-13BE8D9F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3B2F74-BFD2-C676-AEBB-B8E565564260}"/>
              </a:ext>
            </a:extLst>
          </p:cNvPr>
          <p:cNvSpPr/>
          <p:nvPr/>
        </p:nvSpPr>
        <p:spPr>
          <a:xfrm>
            <a:off x="2623456" y="1763486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AUROC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F20FFC-06A5-C919-43B2-5935C8834466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35EFB1-12EB-F1EE-69D5-28054043AB3C}"/>
              </a:ext>
            </a:extLst>
          </p:cNvPr>
          <p:cNvSpPr/>
          <p:nvPr/>
        </p:nvSpPr>
        <p:spPr>
          <a:xfrm>
            <a:off x="3461658" y="4389890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419FCB9-B3A9-3652-BF9A-3AA72575F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6181" y="3779804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371D48DC-61D6-B900-376E-C04EF2D8C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3813" y="1996121"/>
            <a:ext cx="5731510" cy="286575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5A179BE-EDB1-5C67-A4D4-9A1ECFCDBA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3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C6B90-169F-CFA8-8A10-83B1FED6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6B50B4-9228-85BB-95A3-F3A53AE813F0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AE60394-73D8-03AB-855E-EAC9177CA3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623D64-4643-27A7-5150-757296630DE1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DD16C1-AB54-75E5-482E-042D97AAC93E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14" name="Graphic 1">
            <a:extLst>
              <a:ext uri="{FF2B5EF4-FFF2-40B4-BE49-F238E27FC236}">
                <a16:creationId xmlns:a16="http://schemas.microsoft.com/office/drawing/2014/main" id="{D4604E01-FD5C-4018-6B30-A20D3E75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7748" y="1774371"/>
            <a:ext cx="1950900" cy="4660402"/>
          </a:xfrm>
          <a:prstGeom prst="rect">
            <a:avLst/>
          </a:prstGeom>
        </p:spPr>
      </p:pic>
      <p:pic>
        <p:nvPicPr>
          <p:cNvPr id="4" name="Graphic 1">
            <a:extLst>
              <a:ext uri="{FF2B5EF4-FFF2-40B4-BE49-F238E27FC236}">
                <a16:creationId xmlns:a16="http://schemas.microsoft.com/office/drawing/2014/main" id="{30E656DF-8420-E8F9-47BA-6BAAFB420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9618" y="1774371"/>
            <a:ext cx="1770158" cy="692671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2A994162-8489-272C-ED55-726B00A543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47187" y="1774371"/>
            <a:ext cx="1770159" cy="692671"/>
          </a:xfrm>
          <a:prstGeom prst="rect">
            <a:avLst/>
          </a:prstGeom>
        </p:spPr>
      </p:pic>
      <p:pic>
        <p:nvPicPr>
          <p:cNvPr id="7" name="Graphic 1">
            <a:extLst>
              <a:ext uri="{FF2B5EF4-FFF2-40B4-BE49-F238E27FC236}">
                <a16:creationId xmlns:a16="http://schemas.microsoft.com/office/drawing/2014/main" id="{14FE4AE4-395A-C435-EDE0-AF2338FDED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59116" y="1774371"/>
            <a:ext cx="2023963" cy="483594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97B0DDD-737F-4AE6-6EBB-6FF44F20E3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61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81E7CA-83D7-3A9B-83E6-162EFF23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5A32272-037D-230D-F69C-CB344E7D939B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6768F90E-EBEC-36C3-3EC6-3AFA1DB1BA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6B4C70-4CB1-F5D4-2577-DF01463FD924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82020B-C5CC-332F-5660-B3010186C279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1A1DC0C-2273-B8FC-B2C9-D35239069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BF1E54-96C5-5BF4-3386-1B6ABFF9E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54" y="2704396"/>
            <a:ext cx="4264936" cy="2447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8D64A2-05C4-7658-1BD9-6B71342EC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715" y="2704395"/>
            <a:ext cx="4264936" cy="24476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2168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854247" y="4662231"/>
            <a:ext cx="3343493" cy="1054702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89073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high, around 0.95 for most combinations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7" y="2782852"/>
            <a:ext cx="7461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misleading due to unbalanced data:</a:t>
            </a:r>
          </a:p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-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assume “everything is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” = accuracy of 0.8843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88342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Important to consider other metrics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822735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Promising results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38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 based gives better accuracy than manual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7" y="2740122"/>
            <a:ext cx="74613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Automated features (PCA) are a wildcard and inexplicable: worst accuracy</a:t>
            </a:r>
          </a:p>
          <a:p>
            <a:pPr lvl="0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raw data, then suddenly best accuracy with SMOTE applied</a:t>
            </a:r>
          </a:p>
          <a:p>
            <a:pPr lvl="0"/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832147"/>
            <a:ext cx="5453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Use of 297 genes referenced in literature, reduced by LASSO, gives best results, though RFE is similar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5027836"/>
            <a:ext cx="5453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Genes selected by LASSO match those identified as high importance in 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pic>
        <p:nvPicPr>
          <p:cNvPr id="12" name="Picture 11" descr="A diagram of a gene&#10;&#10;AI-generated content may be incorrect.">
            <a:extLst>
              <a:ext uri="{FF2B5EF4-FFF2-40B4-BE49-F238E27FC236}">
                <a16:creationId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367" y="3429183"/>
            <a:ext cx="3458601" cy="24210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</p:spTree>
    <p:extLst>
      <p:ext uri="{BB962C8B-B14F-4D97-AF65-F5344CB8AC3E}">
        <p14:creationId xmlns:p14="http://schemas.microsoft.com/office/powerpoint/2010/main" val="1632167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Algorithms give similar results, Random Forest slightly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028848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 improves accuracy</a:t>
            </a: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1" name="Picture 10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525" y="3315768"/>
            <a:ext cx="3956809" cy="276976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139072"/>
            <a:ext cx="54537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 with LASSO-selected features:</a:t>
            </a:r>
          </a:p>
          <a:p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Precision 75.86%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Recall 95.65%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F1-score of 84.62%.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27283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important ethical 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862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Privacy: patient data not saved in repository, instead provided instructions to acquire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105762"/>
            <a:ext cx="8273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Fairness/Bias: clinical data such as race, age, etc. was never part of training data, only RNA-</a:t>
            </a:r>
            <a:r>
              <a:rPr lang="en-GB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seq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was used. Use clinical data to verify fairness and lack of bias</a:t>
            </a: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463812"/>
            <a:ext cx="6905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Interpretability: Automated (PCA) features, problematic, discarded.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LASSO-selected features backed up by literature and interpretable through SHAP/LIME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Picture 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1250" y="3838845"/>
            <a:ext cx="3391095" cy="23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839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</TotalTime>
  <Words>813</Words>
  <Application>Microsoft Office PowerPoint</Application>
  <PresentationFormat>Breedbeeld</PresentationFormat>
  <Paragraphs>218</Paragraphs>
  <Slides>20</Slides>
  <Notes>6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20</vt:i4>
      </vt:variant>
    </vt:vector>
  </HeadingPairs>
  <TitlesOfParts>
    <vt:vector size="26" baseType="lpstr">
      <vt:lpstr>Yu Gothic Light</vt:lpstr>
      <vt:lpstr>Yu Gothic UI Light</vt:lpstr>
      <vt:lpstr>Aptos</vt:lpstr>
      <vt:lpstr>Aptos Display</vt:lpstr>
      <vt:lpstr>Arial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Victor de Sousa Gama (0929470)</cp:lastModifiedBy>
  <cp:revision>20</cp:revision>
  <dcterms:created xsi:type="dcterms:W3CDTF">2025-06-04T15:47:53Z</dcterms:created>
  <dcterms:modified xsi:type="dcterms:W3CDTF">2025-06-22T19:46:57Z</dcterms:modified>
</cp:coreProperties>
</file>